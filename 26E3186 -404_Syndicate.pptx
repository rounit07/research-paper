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497" r:id="rId3"/>
    <p:sldId id="499" r:id="rId4"/>
    <p:sldId id="500" r:id="rId5"/>
    <p:sldId id="501" r:id="rId6"/>
    <p:sldId id="507" r:id="rId7"/>
    <p:sldId id="505" r:id="rId8"/>
    <p:sldId id="503" r:id="rId9"/>
    <p:sldId id="508" r:id="rId10"/>
    <p:sldId id="502" r:id="rId11"/>
    <p:sldId id="510" r:id="rId12"/>
    <p:sldId id="509" r:id="rId13"/>
    <p:sldId id="269" r:id="rId14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37" autoAdjust="0"/>
    <p:restoredTop sz="94660"/>
  </p:normalViewPr>
  <p:slideViewPr>
    <p:cSldViewPr>
      <p:cViewPr varScale="1">
        <p:scale>
          <a:sx n="78" d="100"/>
          <a:sy n="78" d="100"/>
        </p:scale>
        <p:origin x="109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4FEA9-E5BE-18E9-8DF7-8D4D2D0E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7B6B0-4320-4924-2DCE-CBFA3706B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5277E-59F2-102F-22D1-937EA8E8E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506B2-03ED-789E-EF2C-46AF92004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49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79CD-F721-0BAC-4B9D-00927EB3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BD6BE-74B1-F753-6C09-8B4F565E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26529-08F0-F4C9-FAFA-E2396B001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441EB-E061-E923-B01E-FF28F3B86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271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E786-55FF-739D-5DB1-46048E974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74766-4153-86C9-508B-90DB67AE5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FC2DC-5ADF-ADBB-34F6-DC1FCDFC5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568F4-1F20-1E55-9B23-03B86688D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648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1117D-A3D7-4734-39BC-57153544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D94B6-2421-4AA6-48AD-D27DE75CC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C4D3D-AA8F-1421-C5CB-E42195A61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F4570-1E77-6C75-700F-90148F38C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649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elsevier.com/journals/journal-of-power-sources/0378-775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journal/mechanical-systems-and-signal-processing" TargetMode="External"/><Relationship Id="rId5" Type="http://schemas.openxmlformats.org/officeDocument/2006/relationships/hyperlink" Target="https://ieeexplore.ieee.org/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7748" y="1347501"/>
            <a:ext cx="888981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PREDICTIVE MAINTENANCE FOR AUTONOMOUS ELECTRIC BUSES USING REAL-TIME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SENSOR DATA AND MACHINE LEARNING</a:t>
            </a:r>
          </a:p>
          <a:p>
            <a:pPr lvl="0" algn="ctr">
              <a:buSzPct val="25000"/>
            </a:pPr>
            <a:endParaRPr lang="en-IN" sz="3200" b="1" dirty="0">
              <a:solidFill>
                <a:srgbClr val="C0000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 Mrs. Kriti Sharma 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758C77-D664-CF2B-A79F-FD45A6C0F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001569"/>
              </p:ext>
            </p:extLst>
          </p:nvPr>
        </p:nvGraphicFramePr>
        <p:xfrm>
          <a:off x="1414653" y="312364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ROLL NO.</a:t>
                      </a:r>
                      <a:endParaRPr lang="en-IN" sz="1200" b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NAME</a:t>
                      </a:r>
                      <a:endParaRPr lang="en-IN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2401011487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Rounit Kumar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2401011485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Prince Kumar Gupta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2401011483</a:t>
                      </a:r>
                      <a:endParaRPr lang="en-IN" sz="1200" b="1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Naman Bharadwaj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2401012482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"/>
                        </a:spcBef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Shantna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Kumar</a:t>
                      </a:r>
                      <a:endParaRPr lang="en-IN" sz="1200" b="1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3375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7601" y="244288"/>
            <a:ext cx="30973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5400600" cy="5086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Rapid urbanization has increased the need for </a:t>
            </a:r>
            <a:r>
              <a:rPr lang="en-US" sz="1600" b="1" dirty="0"/>
              <a:t>efficient, safe, and sustainable public transportation</a:t>
            </a:r>
            <a:r>
              <a:rPr lang="en-US" sz="1600" dirty="0"/>
              <a:t>, driving the adoption of </a:t>
            </a:r>
            <a:r>
              <a:rPr lang="en-US" sz="1600" b="1" dirty="0"/>
              <a:t>Autonomous Electric Buses (AEBs)</a:t>
            </a:r>
            <a:r>
              <a:rPr lang="en-US" sz="1600" dirty="0"/>
              <a:t> due to their zero emissions and improved safety.</a:t>
            </a:r>
          </a:p>
          <a:p>
            <a:pPr marL="285750" indent="-285750" algn="just" fontAlgn="base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AEBs consist of </a:t>
            </a:r>
            <a:r>
              <a:rPr lang="en-US" sz="1600" b="1" dirty="0"/>
              <a:t>complex mechanical, electrical, and electronic systems</a:t>
            </a:r>
            <a:r>
              <a:rPr lang="en-US" sz="1600" dirty="0"/>
              <a:t>, making </a:t>
            </a:r>
            <a:r>
              <a:rPr lang="en-US" sz="1600" b="1" dirty="0"/>
              <a:t>maintenance a critical challenge</a:t>
            </a:r>
            <a:r>
              <a:rPr lang="en-US" sz="1600" dirty="0"/>
              <a:t> with traditional reactive and scheduled approaches causing downtime and high costs.</a:t>
            </a:r>
          </a:p>
          <a:p>
            <a:pPr marL="285750" indent="-285750" algn="just" fontAlgn="base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Predictive Maintenance (</a:t>
            </a:r>
            <a:r>
              <a:rPr lang="en-US" sz="1600" b="1" dirty="0" err="1"/>
              <a:t>PdM</a:t>
            </a:r>
            <a:r>
              <a:rPr lang="en-US" sz="1600" b="1" dirty="0"/>
              <a:t>)</a:t>
            </a:r>
            <a:r>
              <a:rPr lang="en-US" sz="1600" dirty="0"/>
              <a:t> addresses these issues by </a:t>
            </a:r>
            <a:r>
              <a:rPr lang="en-US" sz="1600" b="1" dirty="0"/>
              <a:t>forecasting potential failures in advance</a:t>
            </a:r>
            <a:r>
              <a:rPr lang="en-US" sz="1600" dirty="0"/>
              <a:t>, enabling proactive maintenance decisions.</a:t>
            </a:r>
          </a:p>
          <a:p>
            <a:pPr marL="285750" indent="-285750" algn="just" fontAlgn="base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Real-time sensor data</a:t>
            </a:r>
            <a:r>
              <a:rPr lang="en-US" sz="1600" dirty="0"/>
              <a:t> (battery health, temperature, vibration, braking, and energy usage) combined with </a:t>
            </a:r>
            <a:r>
              <a:rPr lang="en-US" sz="1600" b="1" dirty="0"/>
              <a:t>Machine Learning techniques</a:t>
            </a:r>
            <a:r>
              <a:rPr lang="en-US" sz="1600" dirty="0"/>
              <a:t> allows early detection of faults and component degradation.</a:t>
            </a:r>
          </a:p>
          <a:p>
            <a:pPr marL="285750" indent="-285750" algn="just" fontAlgn="base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proposed research aims to develop an </a:t>
            </a:r>
            <a:r>
              <a:rPr lang="en-US" sz="1600" b="1" dirty="0"/>
              <a:t>intelligent ML-based predictive maintenance framework</a:t>
            </a:r>
            <a:r>
              <a:rPr lang="en-US" sz="1600" dirty="0"/>
              <a:t> to improve </a:t>
            </a:r>
            <a:r>
              <a:rPr lang="en-US" sz="1600" b="1" dirty="0"/>
              <a:t>reliability, safety, operational efficiency, and component lifespan</a:t>
            </a:r>
            <a:r>
              <a:rPr lang="en-US" sz="1600" dirty="0"/>
              <a:t> of autonomous electric buses.</a:t>
            </a:r>
            <a:endParaRPr lang="en-US" sz="1600" kern="1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B7AB1A-FC11-CBA8-7D00-053A027BD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57"/>
          <a:stretch>
            <a:fillRect/>
          </a:stretch>
        </p:blipFill>
        <p:spPr>
          <a:xfrm>
            <a:off x="5598369" y="1124745"/>
            <a:ext cx="3563887" cy="553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C2245-DF7B-7BB9-39C0-9828529CFD56}"/>
              </a:ext>
            </a:extLst>
          </p:cNvPr>
          <p:cNvSpPr txBox="1"/>
          <p:nvPr/>
        </p:nvSpPr>
        <p:spPr>
          <a:xfrm>
            <a:off x="161254" y="1289810"/>
            <a:ext cx="87849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Optimize Maintenance Schedules</a:t>
            </a:r>
          </a:p>
          <a:p>
            <a:r>
              <a:rPr lang="en-US" dirty="0"/>
              <a:t>Shift from reactive to proactive maintenance, reducing downtime and operational costs for autonomous electric bus fleets.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Enhance Component Lifespan</a:t>
            </a:r>
          </a:p>
          <a:p>
            <a:r>
              <a:rPr lang="en-US" dirty="0"/>
              <a:t>Identify potential failures in critical components like batteries, motors, and sensors, extending their operational life through timely interventions.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Improve Safety &amp; Reliability</a:t>
            </a:r>
          </a:p>
          <a:p>
            <a:r>
              <a:rPr lang="en-US" dirty="0"/>
              <a:t>Mitigate the risk of unexpected breakdowns, ensuring safer operations for passengers and reducing the likelihood of accidents.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Develop Data-Driven Insights</a:t>
            </a:r>
          </a:p>
          <a:p>
            <a:r>
              <a:rPr lang="en-US" dirty="0"/>
              <a:t>Utilize machine learning algorithms to analyze sensor data, providing actionable insights into bus performance and health trends.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435020"/>
            <a:ext cx="87849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Real-time Sensor Data Integration</a:t>
            </a:r>
          </a:p>
          <a:p>
            <a:r>
              <a:rPr lang="en-US" dirty="0"/>
              <a:t>Collection and analysis of vast amounts of data from various bus components, including battery health, motor performance, and environmental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Advanced Machine Learning Models</a:t>
            </a:r>
          </a:p>
          <a:p>
            <a:r>
              <a:rPr lang="en-US" dirty="0"/>
              <a:t>Utilizing AI to identify complex patterns and anomalies in sensor data, predicting potential failures with high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Predictive Analytics Dashboard</a:t>
            </a:r>
          </a:p>
          <a:p>
            <a:r>
              <a:rPr lang="en-US" dirty="0"/>
              <a:t>Intuitive visual interfaces for fleet managers to monitor bus health, receive proactive alerts, and schedule maintenance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Maintenance Recommendations</a:t>
            </a:r>
          </a:p>
          <a:p>
            <a:r>
              <a:rPr lang="en-US" dirty="0"/>
              <a:t>System-generated suggestions for preventive actions, parts replacement, and servicing, optimizing 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EE3B-0510-B4DE-E20A-E59C1BC1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AD5676-5E51-F725-6498-61AA01946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8123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8BD68A-605D-BD56-7AF1-C53F5F02BEFF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530275E-144B-E62C-D3D0-7156FAC52B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42E01C-749A-D744-A2E5-C595CDA92995}"/>
              </a:ext>
            </a:extLst>
          </p:cNvPr>
          <p:cNvSpPr txBox="1"/>
          <p:nvPr/>
        </p:nvSpPr>
        <p:spPr>
          <a:xfrm>
            <a:off x="179512" y="1435020"/>
            <a:ext cx="59046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The Core Problem: Unpredictable Failures</a:t>
            </a:r>
          </a:p>
          <a:p>
            <a:r>
              <a:rPr lang="en-US" dirty="0"/>
              <a:t>Autonomous Electric Buses (AEBs) introduce new maintenance challenges. Traditional time-based or reactive maintenance strategies are inefficient and costly, leading to: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Increased operational downtime and service disruptions.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Higher repair costs due to catastrophic failures.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Compromised safety and reliability for passengers.</a:t>
            </a:r>
          </a:p>
          <a:p>
            <a:endParaRPr lang="en-US" dirty="0"/>
          </a:p>
          <a:p>
            <a:r>
              <a:rPr lang="en-US" dirty="0"/>
              <a:t>Our research aims to overcome these issues by proactively identifying potential failures before they occur.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FD8CDF-00E7-28E8-6455-52B861722D63}"/>
              </a:ext>
            </a:extLst>
          </p:cNvPr>
          <p:cNvSpPr txBox="1"/>
          <p:nvPr/>
        </p:nvSpPr>
        <p:spPr>
          <a:xfrm>
            <a:off x="467544" y="336997"/>
            <a:ext cx="58326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Challenges &amp; Insights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DC08E-7AEF-9BCB-B949-444C967BD888}"/>
              </a:ext>
            </a:extLst>
          </p:cNvPr>
          <p:cNvSpPr txBox="1"/>
          <p:nvPr/>
        </p:nvSpPr>
        <p:spPr>
          <a:xfrm>
            <a:off x="179512" y="5562441"/>
            <a:ext cx="9180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"Predictive maintenance is not just about fixing things; it's about optimizing performance and trust in autonomous systems."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77EEC6-B55A-9E66-0F8B-E3DE039013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327396"/>
            <a:ext cx="2906541" cy="387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6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55370"/>
            <a:ext cx="8784976" cy="67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850"/>
              </a:lnSpc>
            </a:pPr>
            <a:r>
              <a:rPr lang="en-US" sz="3200" dirty="0">
                <a:latin typeface="+mj-lt"/>
                <a:ea typeface="Roboto Mono Medium" pitchFamily="34" charset="-122"/>
                <a:cs typeface="Roboto Mono Medium" pitchFamily="34" charset="-120"/>
              </a:rPr>
              <a:t>Methodology: A Data –Driven Approach</a:t>
            </a:r>
            <a:endParaRPr lang="en-US" sz="3200" dirty="0"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AE1D225-3FC9-FD49-EEE3-FEF4FAFCABB7}"/>
              </a:ext>
            </a:extLst>
          </p:cNvPr>
          <p:cNvSpPr/>
          <p:nvPr/>
        </p:nvSpPr>
        <p:spPr>
          <a:xfrm>
            <a:off x="213723" y="1410190"/>
            <a:ext cx="8640960" cy="4889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400"/>
              </a:lnSpc>
            </a:pPr>
            <a:endParaRPr lang="en-US" sz="1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DBD52-384B-8061-056E-C843D6308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4" t="34600" r="24011" b="22000"/>
          <a:stretch>
            <a:fillRect/>
          </a:stretch>
        </p:blipFill>
        <p:spPr>
          <a:xfrm>
            <a:off x="1615583" y="1643430"/>
            <a:ext cx="5760640" cy="2592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EE9406-A333-12E7-B439-1008C2CE0FA9}"/>
              </a:ext>
            </a:extLst>
          </p:cNvPr>
          <p:cNvSpPr txBox="1"/>
          <p:nvPr/>
        </p:nvSpPr>
        <p:spPr>
          <a:xfrm>
            <a:off x="179512" y="5022838"/>
            <a:ext cx="8964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Our methodology combines robust data collection with sophisticated machine learning techniques to create a comprehensive predictive maintenance framework for autonomous electric buses.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56603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2" y="317470"/>
            <a:ext cx="8571331" cy="6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600"/>
              </a:lnSpc>
            </a:pPr>
            <a:endParaRPr lang="en-US" sz="3200" dirty="0">
              <a:latin typeface="+mj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77132" y="97669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CDEBD4-5DD3-3244-783E-45A71216C48A}"/>
              </a:ext>
            </a:extLst>
          </p:cNvPr>
          <p:cNvSpPr txBox="1"/>
          <p:nvPr/>
        </p:nvSpPr>
        <p:spPr>
          <a:xfrm>
            <a:off x="141696" y="1179931"/>
            <a:ext cx="8640960" cy="5302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Comprehensive 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Vehicle Telemetry:</a:t>
            </a:r>
            <a:r>
              <a:rPr lang="en-IN" dirty="0"/>
              <a:t> Speed, acceleration, GPS coordinates, route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Battery Management Systems (BMS):</a:t>
            </a:r>
            <a:r>
              <a:rPr lang="en-IN" dirty="0"/>
              <a:t> State of charge, temperature, voltage, current, cycle life.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Motor &amp; Powertrain Data:</a:t>
            </a:r>
            <a:r>
              <a:rPr lang="en-IN" dirty="0"/>
              <a:t> Torque, RPM, temperature, vibration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Environmental Sensors:</a:t>
            </a:r>
            <a:r>
              <a:rPr lang="en-IN" dirty="0"/>
              <a:t> Ambient temperature, humidity, road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Historical Maintenance Logs:</a:t>
            </a:r>
            <a:r>
              <a:rPr lang="en-IN" dirty="0"/>
              <a:t> Past repair records, component replacements, failure patterns.</a:t>
            </a:r>
          </a:p>
          <a:p>
            <a:r>
              <a:rPr lang="en-IN" b="1" dirty="0"/>
              <a:t>Technological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Cloud platforms</a:t>
            </a:r>
            <a:r>
              <a:rPr lang="en-US" dirty="0"/>
              <a:t> such as </a:t>
            </a:r>
            <a:r>
              <a:rPr lang="en-US" b="1" dirty="0"/>
              <a:t>AWS and Azure</a:t>
            </a:r>
            <a:r>
              <a:rPr lang="en-US" dirty="0"/>
              <a:t> provide scalable infrastructure for </a:t>
            </a:r>
            <a:r>
              <a:rPr lang="en-US" b="1" dirty="0"/>
              <a:t>real-time sensor data storage, processing, and analytics</a:t>
            </a:r>
            <a:r>
              <a:rPr lang="en-US" dirty="0"/>
              <a:t>, while </a:t>
            </a:r>
            <a:r>
              <a:rPr lang="en-US" b="1" dirty="0"/>
              <a:t>MySQL</a:t>
            </a:r>
            <a:r>
              <a:rPr lang="en-US" dirty="0"/>
              <a:t> stores structured sensor data, maintenance logs, and prediction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r>
              <a:rPr lang="en-US" dirty="0"/>
              <a:t> serves as the core development language, supported by </a:t>
            </a:r>
            <a:r>
              <a:rPr lang="en-US" b="1" dirty="0"/>
              <a:t>NumPy and Pandas</a:t>
            </a:r>
            <a:r>
              <a:rPr lang="en-US" dirty="0"/>
              <a:t> for efficient numerical computation, data cleaning, preprocessing, and analysis of real-time and historical sensor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Machine learning frameworks</a:t>
            </a:r>
            <a:r>
              <a:rPr lang="en-US" dirty="0"/>
              <a:t> like </a:t>
            </a:r>
            <a:r>
              <a:rPr lang="en-US" b="1" dirty="0"/>
              <a:t>TensorFlow, Scikit-learn, and </a:t>
            </a:r>
            <a:r>
              <a:rPr lang="en-US" b="1" dirty="0" err="1"/>
              <a:t>Keras</a:t>
            </a:r>
            <a:r>
              <a:rPr lang="en-US" dirty="0"/>
              <a:t> are used to build predictive models (including </a:t>
            </a:r>
            <a:r>
              <a:rPr lang="en-US" b="1" dirty="0"/>
              <a:t>LSTM for time-series data</a:t>
            </a:r>
            <a:r>
              <a:rPr lang="en-US" dirty="0"/>
              <a:t>), with </a:t>
            </a:r>
            <a:r>
              <a:rPr lang="en-US" b="1" dirty="0"/>
              <a:t>Tableau and Power BI</a:t>
            </a:r>
            <a:r>
              <a:rPr lang="en-US" dirty="0"/>
              <a:t> enabling real-time data visualization and monitoring dashboards.</a:t>
            </a:r>
            <a:endParaRPr lang="en-IN" dirty="0"/>
          </a:p>
          <a:p>
            <a:pPr marL="0" indent="0" algn="l">
              <a:lnSpc>
                <a:spcPts val="1650"/>
              </a:lnSpc>
              <a:buNone/>
            </a:pPr>
            <a:endParaRPr lang="en-US" sz="1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C7659-BF80-D10D-974F-1E4E29DE7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52752"/>
            <a:ext cx="867924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Resources:</a:t>
            </a:r>
            <a:r>
              <a:rPr lang="en-IN" sz="3200" b="1" dirty="0" err="1"/>
              <a:t>Fueling</a:t>
            </a:r>
            <a:r>
              <a:rPr lang="en-IN" sz="3200" b="1" dirty="0"/>
              <a:t> Our Predictions</a:t>
            </a:r>
          </a:p>
          <a:p>
            <a:pPr lvl="0">
              <a:buSzPct val="25000"/>
            </a:pP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A273-7BB4-A99D-207D-EB6A9D9C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8EA086-8CFD-E7E1-3544-26F74FF52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8C9F7A8-4BB4-CC2A-A4EC-E7F427505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2" y="317470"/>
            <a:ext cx="8571331" cy="6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4600"/>
              </a:lnSpc>
            </a:pPr>
            <a:endParaRPr lang="en-US" sz="3200" dirty="0">
              <a:latin typeface="+mj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0B7C68-6EE9-FA99-4EF0-6EDBB6925126}"/>
              </a:ext>
            </a:extLst>
          </p:cNvPr>
          <p:cNvCxnSpPr/>
          <p:nvPr/>
        </p:nvCxnSpPr>
        <p:spPr>
          <a:xfrm>
            <a:off x="177132" y="97669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59110F4-6A0D-6E23-2E33-05CC7DBFDF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343ED4-A827-0BCA-09CE-74756AB02D4F}"/>
              </a:ext>
            </a:extLst>
          </p:cNvPr>
          <p:cNvSpPr txBox="1"/>
          <p:nvPr/>
        </p:nvSpPr>
        <p:spPr>
          <a:xfrm>
            <a:off x="5474986" y="1179931"/>
            <a:ext cx="36690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Significant Downtime Reduction</a:t>
            </a:r>
          </a:p>
          <a:p>
            <a:r>
              <a:rPr lang="en-US" dirty="0"/>
              <a:t>Pilot projects have demonstrated a 40% reduction in unscheduled maintenance downtime compared to traditional methods.</a:t>
            </a:r>
          </a:p>
          <a:p>
            <a:r>
              <a:rPr lang="en-US" b="1" dirty="0"/>
              <a:t>Cost Savings Identified</a:t>
            </a:r>
          </a:p>
          <a:p>
            <a:r>
              <a:rPr lang="en-US" dirty="0"/>
              <a:t>Early estimations indicate a 25% decrease in overall maintenance costs, driven by proactive component replacement and optimized technician scheduling.</a:t>
            </a:r>
          </a:p>
          <a:p>
            <a:r>
              <a:rPr lang="en-US" b="1" dirty="0"/>
              <a:t>Enhanced Component Lifespan</a:t>
            </a:r>
          </a:p>
          <a:p>
            <a:r>
              <a:rPr lang="en-US" dirty="0"/>
              <a:t>Detailed analysis reveals an average 15% extension in the operational life of critical components like battery packs and electric motors.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EBC2C4-DAC2-122A-11E2-F300F5E9B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2"/>
            <a:ext cx="835701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Early Results: Proving the Predictive Power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C787FE-6D08-23BB-ECB6-606A11F94A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04" t="36000" r="42870" b="20601"/>
          <a:stretch>
            <a:fillRect/>
          </a:stretch>
        </p:blipFill>
        <p:spPr>
          <a:xfrm>
            <a:off x="72007" y="1641848"/>
            <a:ext cx="5402979" cy="416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416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0726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err="1"/>
              <a:t>Usecases</a:t>
            </a:r>
            <a:r>
              <a:rPr lang="en-US" sz="3200" b="1" dirty="0"/>
              <a:t> &amp; Scope: Beyond the Bus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06254-8C44-B747-ADA3-B4244D596033}"/>
              </a:ext>
            </a:extLst>
          </p:cNvPr>
          <p:cNvSpPr txBox="1"/>
          <p:nvPr/>
        </p:nvSpPr>
        <p:spPr>
          <a:xfrm>
            <a:off x="467544" y="1423227"/>
            <a:ext cx="806489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Smart City Integration</a:t>
            </a:r>
          </a:p>
          <a:p>
            <a:r>
              <a:rPr lang="en-US" dirty="0"/>
              <a:t>Integrate predictive maintenance data with urban traffic management systems for optimized public transport networks and reduced congestion.</a:t>
            </a:r>
          </a:p>
          <a:p>
            <a:r>
              <a:rPr lang="en-US" b="1" dirty="0"/>
              <a:t>Expanding to Other EV Fleets</a:t>
            </a:r>
          </a:p>
          <a:p>
            <a:r>
              <a:rPr lang="en-US" dirty="0"/>
              <a:t>Apply the developed models and framework to other electric vehicle fleets, including delivery vans, ride-sharing vehicles, and autonomous taxis.</a:t>
            </a:r>
          </a:p>
          <a:p>
            <a:r>
              <a:rPr lang="en-US" b="1" dirty="0"/>
              <a:t>Enhanced Cybersecurity</a:t>
            </a:r>
          </a:p>
          <a:p>
            <a:r>
              <a:rPr lang="en-US" dirty="0"/>
              <a:t>Develop robust security measures to protect sensitive sensor data and ensure the integrity of predictive maintenance algorithms against cyber threats.</a:t>
            </a:r>
          </a:p>
          <a:p>
            <a:r>
              <a:rPr lang="en-US" b="1" dirty="0"/>
              <a:t>Standardization &amp; Policy Advocacy</a:t>
            </a:r>
          </a:p>
          <a:p>
            <a:r>
              <a:rPr lang="en-US" dirty="0"/>
              <a:t>Work towards establishing industry standards and advocating for policies that support the widespread adoption of predictive maintenance in autonomous public transport.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25765-8A3F-F1B3-70E5-F1886BC36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B90F87-A1BF-DE7F-C212-98B1D701B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A35649E-A6BF-3B33-D2FB-3892BF120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0" y="28713"/>
            <a:ext cx="900100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Conclusion-Driving the Future of Sustainable, Reliable Autonomous Transit</a:t>
            </a:r>
          </a:p>
          <a:p>
            <a:endParaRPr lang="en-US" sz="3200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3AD337-324B-AABE-94B6-096A824AA4E2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4A61F8E-7B52-585C-C562-59995BDE17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4F2BE-5270-1689-11D3-0E5D51E3306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51721-955C-7A20-E6F9-5DCC76A7CECF}"/>
              </a:ext>
            </a:extLst>
          </p:cNvPr>
          <p:cNvSpPr txBox="1"/>
          <p:nvPr/>
        </p:nvSpPr>
        <p:spPr>
          <a:xfrm>
            <a:off x="4572000" y="1423227"/>
            <a:ext cx="39604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Revolutionizing Operations:</a:t>
            </a:r>
            <a:r>
              <a:rPr lang="en-US" dirty="0"/>
              <a:t> Predictive maintenance, powered by real-time sensor data and machine learning, is revolutionizing autonomous electric bus operations, making them smarter and more resilient.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Enhanced Impact:</a:t>
            </a:r>
            <a:r>
              <a:rPr lang="en-US" dirty="0"/>
              <a:t> This innovation enhances safety, significantly reduces operational costs, and actively accelerates the global transition to green, efficient urban mobility.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Collaborative Future:</a:t>
            </a:r>
            <a:r>
              <a:rPr lang="en-US" dirty="0"/>
              <a:t> Together, we can build smarter, cleaner, and more reliable cities with autonomous electric buses at the forefront of urban transportation.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9FFC93-AAC5-A3E1-E23A-E57433035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25" y="1414405"/>
            <a:ext cx="3551327" cy="47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77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2FF8-6BB6-47ED-ADC1-629D77A7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D59854-7A73-B45C-1A0C-70E875D2E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FB8E104-014D-8792-A5A6-BDD805024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14507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/>
              <a:t>References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4AB2F8-B7D4-83E0-2D60-D33FC41A521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4FFB947-90F0-0562-427F-2DAD20323E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480D03-4095-5D70-3208-400850CC4B4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D3E13-F017-DA3A-F1E6-7C53E965D10D}"/>
              </a:ext>
            </a:extLst>
          </p:cNvPr>
          <p:cNvSpPr txBox="1"/>
          <p:nvPr/>
        </p:nvSpPr>
        <p:spPr>
          <a:xfrm>
            <a:off x="467544" y="1423227"/>
            <a:ext cx="80648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IEEE Transactions on Intelligent Transportation Systems</a:t>
            </a:r>
            <a:r>
              <a:rPr lang="en-US" dirty="0"/>
              <a:t>: A primary source for research on autonomous vehicles and smart transportation.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Mechanical Systems and Signal Processing</a:t>
            </a:r>
            <a:r>
              <a:rPr lang="en-US" dirty="0"/>
              <a:t>: Focuses on advanced techniques for fault diagnosis and prognosis.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7"/>
              </a:rPr>
              <a:t>Journal of Power Sources</a:t>
            </a:r>
            <a:r>
              <a:rPr lang="en-US" dirty="0"/>
              <a:t>: Relevant for battery health monitoring and electric vehicle powertrain studies.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S. Zhang, Y. Wang, and M. Liu, “Predictive Maintenance Using Machine Learning Techniques,” </a:t>
            </a:r>
            <a:r>
              <a:rPr lang="en-US" i="1" dirty="0"/>
              <a:t>IEEE Access</a:t>
            </a:r>
            <a:r>
              <a:rPr lang="en-US" dirty="0"/>
              <a:t>, vol. 7, pp. 163146–163161, 2019.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G. Zhao, C. Zhang, L. Ge, and J. Liu, “Research Advances in Fault Diagnosis and Prognosis Based on Sensor Data,” </a:t>
            </a:r>
            <a:r>
              <a:rPr lang="en-US" i="1" dirty="0"/>
              <a:t>Sensors</a:t>
            </a:r>
            <a:r>
              <a:rPr lang="en-US" dirty="0"/>
              <a:t>, vol. 17, no. 5, 2017.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47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34706" y="2708920"/>
            <a:ext cx="58530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YOU!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6254</TotalTime>
  <Words>1170</Words>
  <Application>Microsoft Office PowerPoint</Application>
  <PresentationFormat>On-screen Show (4:3)</PresentationFormat>
  <Paragraphs>116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Rounit kumar</cp:lastModifiedBy>
  <cp:revision>313</cp:revision>
  <cp:lastPrinted>2022-09-05T08:43:44Z</cp:lastPrinted>
  <dcterms:created xsi:type="dcterms:W3CDTF">2020-01-16T09:05:56Z</dcterms:created>
  <dcterms:modified xsi:type="dcterms:W3CDTF">2026-02-09T18:00:23Z</dcterms:modified>
</cp:coreProperties>
</file>